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73" r:id="rId7"/>
    <p:sldId id="27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5" r:id="rId20"/>
    <p:sldId id="276" r:id="rId21"/>
    <p:sldId id="271" r:id="rId2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BE6F7-6479-4D6E-AE30-A196103BE182}" v="4" dt="2026-07-09T08:26:06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u Ratti" userId="9909453a-c014-4b96-a158-1d35bac793da" providerId="ADAL" clId="{327D40E6-AD59-460A-AA81-33D0AF220104}"/>
    <pc:docChg chg="modSld sldOrd">
      <pc:chgData name="Ishu Ratti" userId="9909453a-c014-4b96-a158-1d35bac793da" providerId="ADAL" clId="{327D40E6-AD59-460A-AA81-33D0AF220104}" dt="2026-07-09T08:26:06.386" v="4" actId="767"/>
      <pc:docMkLst>
        <pc:docMk/>
      </pc:docMkLst>
      <pc:sldChg chg="addSp modSp">
        <pc:chgData name="Ishu Ratti" userId="9909453a-c014-4b96-a158-1d35bac793da" providerId="ADAL" clId="{327D40E6-AD59-460A-AA81-33D0AF220104}" dt="2026-07-09T08:21:24.343" v="0" actId="767"/>
        <pc:sldMkLst>
          <pc:docMk/>
          <pc:sldMk cId="2359670895" sldId="271"/>
        </pc:sldMkLst>
        <pc:spChg chg="add mod">
          <ac:chgData name="Ishu Ratti" userId="9909453a-c014-4b96-a158-1d35bac793da" providerId="ADAL" clId="{327D40E6-AD59-460A-AA81-33D0AF220104}" dt="2026-07-09T08:21:24.343" v="0" actId="767"/>
          <ac:spMkLst>
            <pc:docMk/>
            <pc:sldMk cId="2359670895" sldId="271"/>
            <ac:spMk id="2" creationId="{6CA0D3AF-FB56-2755-8C0B-6A220ED38F58}"/>
          </ac:spMkLst>
        </pc:spChg>
      </pc:sldChg>
      <pc:sldChg chg="addSp modSp ord">
        <pc:chgData name="Ishu Ratti" userId="9909453a-c014-4b96-a158-1d35bac793da" providerId="ADAL" clId="{327D40E6-AD59-460A-AA81-33D0AF220104}" dt="2026-07-09T08:26:06.386" v="4" actId="767"/>
        <pc:sldMkLst>
          <pc:docMk/>
          <pc:sldMk cId="2869284722" sldId="272"/>
        </pc:sldMkLst>
        <pc:spChg chg="add mod">
          <ac:chgData name="Ishu Ratti" userId="9909453a-c014-4b96-a158-1d35bac793da" providerId="ADAL" clId="{327D40E6-AD59-460A-AA81-33D0AF220104}" dt="2026-07-09T08:25:38.688" v="3"/>
          <ac:spMkLst>
            <pc:docMk/>
            <pc:sldMk cId="2869284722" sldId="272"/>
            <ac:spMk id="4" creationId="{BD7C407A-B759-994E-50C4-25E8B1C38AD1}"/>
          </ac:spMkLst>
        </pc:spChg>
        <pc:spChg chg="add mod">
          <ac:chgData name="Ishu Ratti" userId="9909453a-c014-4b96-a158-1d35bac793da" providerId="ADAL" clId="{327D40E6-AD59-460A-AA81-33D0AF220104}" dt="2026-07-09T08:26:06.386" v="4" actId="767"/>
          <ac:spMkLst>
            <pc:docMk/>
            <pc:sldMk cId="2869284722" sldId="272"/>
            <ac:spMk id="5" creationId="{7EE6E51D-A4EF-5F73-1842-4E9EF7871D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235EC-5453-6DAD-167F-683ECE4C2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9" t="9091" r="23564"/>
          <a:stretch>
            <a:fillRect/>
          </a:stretch>
        </p:blipFill>
        <p:spPr>
          <a:xfrm>
            <a:off x="20" y="10"/>
            <a:ext cx="11557996" cy="914399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47198" y="0"/>
            <a:ext cx="13008802" cy="9144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C407A-B759-994E-50C4-25E8B1C38AD1}"/>
              </a:ext>
            </a:extLst>
          </p:cNvPr>
          <p:cNvSpPr txBox="1"/>
          <p:nvPr/>
        </p:nvSpPr>
        <p:spPr>
          <a:xfrm>
            <a:off x="10948416" y="1654895"/>
            <a:ext cx="4831282" cy="17922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Team 3 - </a:t>
            </a:r>
            <a:r>
              <a:rPr lang="en-US" sz="41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AI-Empowered Space-Air-Ground Integrated Networks (SAGIN)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9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583111" y="807720"/>
            <a:ext cx="97536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0690" y="3257973"/>
            <a:ext cx="4291584" cy="12192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6E51D-A4EF-5F73-1842-4E9EF7871DFC}"/>
              </a:ext>
            </a:extLst>
          </p:cNvPr>
          <p:cNvSpPr txBox="1"/>
          <p:nvPr/>
        </p:nvSpPr>
        <p:spPr>
          <a:xfrm>
            <a:off x="11194490" y="3624072"/>
            <a:ext cx="4585208" cy="4276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Team Members: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Divyanshu Ratti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Henry Manjo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Rajdeep Kaur</a:t>
            </a:r>
          </a:p>
        </p:txBody>
      </p:sp>
    </p:spTree>
    <p:extLst>
      <p:ext uri="{BB962C8B-B14F-4D97-AF65-F5344CB8AC3E}">
        <p14:creationId xmlns:p14="http://schemas.microsoft.com/office/powerpoint/2010/main" val="286928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4D1724-C2BF-490C-F5B2-7468DF45E91C}"/>
              </a:ext>
            </a:extLst>
          </p:cNvPr>
          <p:cNvSpPr txBox="1"/>
          <p:nvPr/>
        </p:nvSpPr>
        <p:spPr>
          <a:xfrm>
            <a:off x="641350" y="5003798"/>
            <a:ext cx="4387850" cy="3270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latin typeface="+mj-lt"/>
                <a:ea typeface="+mj-ea"/>
                <a:cs typeface="+mj-cs"/>
              </a:rPr>
              <a:t>Joint Optimization in Multi-UAV MEC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551F3F-0385-9D9D-7238-BAB0C5AB1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86" b="12671"/>
          <a:stretch>
            <a:fillRect/>
          </a:stretch>
        </p:blipFill>
        <p:spPr>
          <a:xfrm>
            <a:off x="20" y="10"/>
            <a:ext cx="16255980" cy="4947474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9D093F-D236-D05F-F30E-82EE2FAB32B0}"/>
              </a:ext>
            </a:extLst>
          </p:cNvPr>
          <p:cNvSpPr txBox="1"/>
          <p:nvPr/>
        </p:nvSpPr>
        <p:spPr>
          <a:xfrm>
            <a:off x="5631976" y="5003800"/>
            <a:ext cx="9980550" cy="3270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Overcoming Siloed Approaches:</a:t>
            </a:r>
            <a:r>
              <a:rPr lang="en-US" sz="2200"/>
              <a:t> Traditional methods treat UAV flight paths and compute resource allocation separately, leading to systemic inefficiencies. Zhang et al. (2025) solve both challenges jointly using Deep Reinforcement Learning (DRL).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Real-Time Adaptive Control:</a:t>
            </a:r>
            <a:r>
              <a:rPr lang="en-US" sz="2200"/>
              <a:t> The intelligent model dynamically adapts UAV positioning and distributes computing resources to ground devices in real time, moving past rigid, fixed-rule allocations.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Measurable Performance Gains:</a:t>
            </a:r>
            <a:r>
              <a:rPr lang="en-US" sz="2200"/>
              <a:t> Achieves significantly more users served, lower overall energy consumption, and reduced communication delay compared to standard legacy optimization baselines.</a:t>
            </a:r>
          </a:p>
        </p:txBody>
      </p:sp>
    </p:spTree>
    <p:extLst>
      <p:ext uri="{BB962C8B-B14F-4D97-AF65-F5344CB8AC3E}">
        <p14:creationId xmlns:p14="http://schemas.microsoft.com/office/powerpoint/2010/main" val="1548751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C8479C-19C3-C80B-9DFC-1AF77B4F7924}"/>
              </a:ext>
            </a:extLst>
          </p:cNvPr>
          <p:cNvSpPr txBox="1"/>
          <p:nvPr/>
        </p:nvSpPr>
        <p:spPr>
          <a:xfrm>
            <a:off x="641350" y="5003798"/>
            <a:ext cx="4387850" cy="3270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Securing the Aerial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AA776-0AF9-A565-BE1A-EA5EB613F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40" b="17117"/>
          <a:stretch>
            <a:fillRect/>
          </a:stretch>
        </p:blipFill>
        <p:spPr>
          <a:xfrm>
            <a:off x="20" y="10"/>
            <a:ext cx="16255980" cy="4947474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41F407-0F20-29B8-D563-04AEA348293F}"/>
              </a:ext>
            </a:extLst>
          </p:cNvPr>
          <p:cNvSpPr txBox="1"/>
          <p:nvPr/>
        </p:nvSpPr>
        <p:spPr>
          <a:xfrm>
            <a:off x="5631976" y="5003800"/>
            <a:ext cx="9980550" cy="3270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Edge AI for Physical Layer Security in 6G Non-Terrestrial Networks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Expanding Threat Landscape:</a:t>
            </a:r>
            <a:r>
              <a:rPr lang="en-US" sz="2200" dirty="0"/>
              <a:t> As SAGIN connects satellites, drones, and HAPS, it becomes more exposed to interference, spoofing, jamming, and eavesdropping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Edge AI Defense:</a:t>
            </a:r>
            <a:r>
              <a:rPr lang="en-US" sz="2200" dirty="0"/>
              <a:t> Chou et al. (2024) propose using Edge AI to detect threats and secure communications closer to where data is generated instead of relying on a distant central system.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Privacy &amp; Speed:</a:t>
            </a:r>
            <a:r>
              <a:rPr lang="en-US" sz="2200" dirty="0"/>
              <a:t> Techniques like federated learning and split deep learning keep processing local, improving both response speed and privacy</a:t>
            </a:r>
          </a:p>
        </p:txBody>
      </p:sp>
    </p:spTree>
    <p:extLst>
      <p:ext uri="{BB962C8B-B14F-4D97-AF65-F5344CB8AC3E}">
        <p14:creationId xmlns:p14="http://schemas.microsoft.com/office/powerpoint/2010/main" val="83661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6251935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7F2AF-6DB1-064D-76E5-2BE7AB536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55" r="16501"/>
          <a:stretch>
            <a:fillRect/>
          </a:stretch>
        </p:blipFill>
        <p:spPr>
          <a:xfrm>
            <a:off x="1" y="10"/>
            <a:ext cx="12892856" cy="9143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833358" y="0"/>
            <a:ext cx="9422638" cy="9144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9436C-49F6-DD23-CEE2-4124F8DE44CB}"/>
              </a:ext>
            </a:extLst>
          </p:cNvPr>
          <p:cNvSpPr txBox="1"/>
          <p:nvPr/>
        </p:nvSpPr>
        <p:spPr>
          <a:xfrm>
            <a:off x="10490200" y="762000"/>
            <a:ext cx="4950160" cy="792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My Paper Summaries: Intelligent Communication &amp; Resource Management</a:t>
            </a:r>
            <a:endParaRPr lang="en-US" sz="1100" b="1" dirty="0"/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1. An et al. (2026) – Electromagnetic Situation Awareness</a:t>
            </a:r>
            <a:endParaRPr lang="en-US" sz="1600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Uses AI, semantic analysis, and digital twins.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Models spectrum conditions and interference.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Improves awareness of the wireless environment.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2. Han et al. (2025) – THz Communication &amp; Radar Sensing</a:t>
            </a:r>
            <a:endParaRPr lang="en-US" sz="1600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Uses Terahertz frequencies for ultra-fast communication.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Enables both data transmission and environmental sensing.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Challenges include path loss, mobility, and hardware limitations.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3. Huang et al. (2024) – Generative Semantic Communication</a:t>
            </a:r>
            <a:endParaRPr lang="en-US" sz="1600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Applies deep reinforcement learning.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Optimizes semantic image transmission.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Supports communication between satellites, UAVs, and ground users.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4. Zhao et al. (2025) – Energy-Efficient Semantic Communication</a:t>
            </a:r>
            <a:endParaRPr lang="en-US" sz="1600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Uses semantic compression to reduce data transmission.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Optimizes UAV position, bandwidth, computing, and transmission power.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Improves energy efficiency.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5. </a:t>
            </a:r>
            <a:r>
              <a:rPr lang="en-US" sz="1600" b="1" dirty="0" err="1"/>
              <a:t>Mamillapalli</a:t>
            </a:r>
            <a:r>
              <a:rPr lang="en-US" sz="1600" b="1" dirty="0"/>
              <a:t> et al. (2026) – RIS-Aided Interference Suppression</a:t>
            </a:r>
            <a:endParaRPr lang="en-US" sz="1600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Uses deep reinforcement learning for RIS beamforming.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Reduces interference between different network layers.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Improves spectrum efficiency and communication quality.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503715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BE757-662E-E716-75F6-50726E160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34" y="-3309"/>
            <a:ext cx="15931866" cy="914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11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673F02-69FD-A52F-001B-DD11ADD33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9" t="4507" r="26465"/>
          <a:stretch>
            <a:fillRect/>
          </a:stretch>
        </p:blipFill>
        <p:spPr>
          <a:xfrm>
            <a:off x="4697984" y="10"/>
            <a:ext cx="11558016" cy="9143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" y="0"/>
            <a:ext cx="12452274" cy="9144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A0D3AF-FB56-2755-8C0B-6A220ED38F58}"/>
              </a:ext>
            </a:extLst>
          </p:cNvPr>
          <p:cNvSpPr txBox="1"/>
          <p:nvPr/>
        </p:nvSpPr>
        <p:spPr>
          <a:xfrm>
            <a:off x="637308" y="1496484"/>
            <a:ext cx="5364480" cy="42721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4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Thanks for listening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13228" y="462388"/>
            <a:ext cx="195072" cy="9387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372" y="6062560"/>
            <a:ext cx="5303520" cy="24384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670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412</Words>
  <Application>Microsoft Office PowerPoint</Application>
  <PresentationFormat>Custom</PresentationFormat>
  <Paragraphs>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Ishu Ratti</cp:lastModifiedBy>
  <cp:revision>6</cp:revision>
  <dcterms:created xsi:type="dcterms:W3CDTF">2006-08-16T00:00:00Z</dcterms:created>
  <dcterms:modified xsi:type="dcterms:W3CDTF">2026-08-06T20:04:11Z</dcterms:modified>
</cp:coreProperties>
</file>